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qJ4bPklY9K5sZsRIDym9xSO5c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2.jpg"/><Relationship Id="rId7" Type="http://schemas.openxmlformats.org/officeDocument/2006/relationships/image" Target="../media/image5.jp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jpg"/><Relationship Id="rId7" Type="http://schemas.openxmlformats.org/officeDocument/2006/relationships/image" Target="../media/image5.jp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1743B"/>
          </a:solidFill>
          <a:ln cap="flat" cmpd="sng" w="10150">
            <a:solidFill>
              <a:srgbClr val="11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talogos/tta_top_logo.png" id="13" name="Google Shape;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" y="344251"/>
            <a:ext cx="2649003" cy="59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504612" y="1547555"/>
            <a:ext cx="10618470" cy="10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BOOTCAMP GENERATIVE AI &amp; MACHINE LEARNING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PROJETS FINAUX</a:t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490228" y="2824402"/>
            <a:ext cx="5615941" cy="4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743B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1743B"/>
                </a:solidFill>
                <a:latin typeface="Arial"/>
                <a:ea typeface="Arial"/>
                <a:cs typeface="Arial"/>
                <a:sym typeface="Arial"/>
              </a:rPr>
              <a:t>DEMO DAY</a:t>
            </a:r>
            <a:endParaRPr b="1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17200" y="4363411"/>
            <a:ext cx="2668905" cy="256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743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1743B"/>
                </a:solidFill>
                <a:latin typeface="Arial"/>
                <a:ea typeface="Arial"/>
                <a:cs typeface="Arial"/>
                <a:sym typeface="Arial"/>
              </a:rPr>
              <a:t>📅  29 et 30 Juillet 2026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396448" y="4335635"/>
            <a:ext cx="5476340" cy="231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📍 </a:t>
            </a:r>
            <a:r>
              <a:rPr b="1" lang="en-US" sz="1400">
                <a:solidFill>
                  <a:srgbClr val="11743B"/>
                </a:solidFill>
                <a:latin typeface="Arial"/>
                <a:ea typeface="Arial"/>
                <a:cs typeface="Arial"/>
                <a:sym typeface="Arial"/>
              </a:rPr>
              <a:t>Le Phare Coworking, Riviera Bonoumin , Cocody Abidjan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207625" y="4351977"/>
            <a:ext cx="2748915" cy="164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1" lang="en-US" sz="1400">
                <a:solidFill>
                  <a:srgbClr val="11743B"/>
                </a:solidFill>
                <a:latin typeface="Arial"/>
                <a:ea typeface="Arial"/>
                <a:cs typeface="Arial"/>
                <a:sym typeface="Arial"/>
              </a:rPr>
              <a:t>14h - 18h GMT</a:t>
            </a:r>
            <a:endParaRPr/>
          </a:p>
        </p:txBody>
      </p:sp>
      <p:pic>
        <p:nvPicPr>
          <p:cNvPr descr="/mnt/data/ttalogos/bottom_bbox.png" id="19" name="Google Shape;19;p1"/>
          <p:cNvPicPr preferRelativeResize="0"/>
          <p:nvPr/>
        </p:nvPicPr>
        <p:blipFill rotWithShape="1">
          <a:blip r:embed="rId4">
            <a:alphaModFix/>
          </a:blip>
          <a:srcRect b="0" l="0" r="0" t="43293"/>
          <a:stretch/>
        </p:blipFill>
        <p:spPr>
          <a:xfrm>
            <a:off x="3418315" y="163432"/>
            <a:ext cx="5872264" cy="700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490228" y="3456078"/>
            <a:ext cx="9588078" cy="370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GUIDE D’ORGANISATION  ·  CONSIGNES  ·  AGENDA  ·  GRILLE DE NOTATION</a:t>
            </a:r>
            <a:endParaRPr b="1"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1"/>
          <p:cNvGrpSpPr/>
          <p:nvPr/>
        </p:nvGrpSpPr>
        <p:grpSpPr>
          <a:xfrm>
            <a:off x="7995367" y="6377571"/>
            <a:ext cx="4076902" cy="443130"/>
            <a:chOff x="6461636" y="6216836"/>
            <a:chExt cx="5369378" cy="655247"/>
          </a:xfrm>
        </p:grpSpPr>
        <p:pic>
          <p:nvPicPr>
            <p:cNvPr id="22" name="Google Shape;22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61636" y="6453888"/>
              <a:ext cx="1550293" cy="2546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WAKKEH (Dictable) | LinkedIn" id="23" name="Google Shape;23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750682" y="6216836"/>
              <a:ext cx="655247" cy="655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e vous annonce avec beaucoup d'enthousiasme que j'intègre ..." id="24" name="Google Shape;24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293050" y="6381953"/>
              <a:ext cx="1176511" cy="3250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e Phare - Coworking | Abidjan Abidjan" id="25" name="Google Shape;25;p1"/>
            <p:cNvPicPr preferRelativeResize="0"/>
            <p:nvPr/>
          </p:nvPicPr>
          <p:blipFill rotWithShape="1">
            <a:blip r:embed="rId8">
              <a:alphaModFix/>
            </a:blip>
            <a:srcRect b="29769" l="0" r="0" t="28115"/>
            <a:stretch/>
          </p:blipFill>
          <p:spPr>
            <a:xfrm>
              <a:off x="10698480" y="6305975"/>
              <a:ext cx="1132534" cy="4769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1"/>
          <p:cNvSpPr/>
          <p:nvPr/>
        </p:nvSpPr>
        <p:spPr>
          <a:xfrm>
            <a:off x="5663515" y="6457807"/>
            <a:ext cx="2023276" cy="33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 partenariat avec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ronomètre avec un remplissage uni" id="27" name="Google Shape;2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73537" y="4311033"/>
            <a:ext cx="256030" cy="25603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/>
          <p:nvPr/>
        </p:nvSpPr>
        <p:spPr>
          <a:xfrm>
            <a:off x="517200" y="5336288"/>
            <a:ext cx="9516618" cy="443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Une activité pour transformer les acquis de formation en prototypes utiles, démontrables et valorisables.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 problème métier au prototype IA fonctionnel.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ttalogos/tta_top_logo.png"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5624" y="205744"/>
            <a:ext cx="1936376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502920" y="6633976"/>
            <a:ext cx="20116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TECH TALENT ACCELERATOR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074920" y="6576824"/>
            <a:ext cx="2560320" cy="22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Demo Day Bootcamp GenAI &amp; ML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1794998" y="6576824"/>
            <a:ext cx="341757" cy="22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02919" y="502920"/>
            <a:ext cx="9069705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Une activité pour passer du cours au prototype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02920" y="1417319"/>
            <a:ext cx="5852160" cy="1134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95"/>
              <a:buFont typeface="Arial"/>
              <a:buNone/>
            </a:pPr>
            <a:r>
              <a:rPr lang="en-US" sz="1295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Les étudiants TTA conçoivent, implémentent et présentent une solution IA ou Machine Learning. Le projet final vérifie leur capacité à choisir un problème concret, structurer les données, développer un modèle, l’évaluer et le démontrer devant un jury.</a:t>
            </a: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2"/>
          <p:cNvGrpSpPr/>
          <p:nvPr/>
        </p:nvGrpSpPr>
        <p:grpSpPr>
          <a:xfrm>
            <a:off x="502920" y="2743200"/>
            <a:ext cx="5852160" cy="3127248"/>
            <a:chOff x="502920" y="2743200"/>
            <a:chExt cx="5394960" cy="1938528"/>
          </a:xfrm>
        </p:grpSpPr>
        <p:sp>
          <p:nvSpPr>
            <p:cNvPr id="41" name="Google Shape;41;p2"/>
            <p:cNvSpPr/>
            <p:nvPr/>
          </p:nvSpPr>
          <p:spPr>
            <a:xfrm>
              <a:off x="502920" y="2743200"/>
              <a:ext cx="5394960" cy="566928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02920" y="2743200"/>
              <a:ext cx="539496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12648" y="291693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033272" y="2907792"/>
              <a:ext cx="473659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600"/>
                <a:buFont typeface="Arial"/>
                <a:buNone/>
              </a:pPr>
              <a:r>
                <a:rPr b="1" lang="en-US" sz="16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Apprendre en produisant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033272" y="3085835"/>
              <a:ext cx="475488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Application bout en bout des acquis sous contrainte de délai.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02920" y="3429000"/>
              <a:ext cx="5394960" cy="566928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02920" y="3429000"/>
              <a:ext cx="539496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12648" y="360273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⚙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033272" y="3593592"/>
              <a:ext cx="473659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600"/>
                <a:buFont typeface="Arial"/>
                <a:buNone/>
              </a:pPr>
              <a:r>
                <a:rPr b="1" lang="en-US" sz="16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Démontrer la maîtrise IA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033272" y="3771639"/>
              <a:ext cx="475488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Architecture, qualité technique, métriques et déploiement.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02920" y="4114800"/>
              <a:ext cx="5394960" cy="566928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02920" y="4114800"/>
              <a:ext cx="539496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12648" y="428853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★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033272" y="4279392"/>
              <a:ext cx="473659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600"/>
                <a:buFont typeface="Arial"/>
                <a:buNone/>
              </a:pPr>
              <a:r>
                <a:rPr b="1" lang="en-US" sz="16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Construire un portfolio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033272" y="4466293"/>
              <a:ext cx="475488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Un livrable concret pour les recruteurs, formateurs et partenaires.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6642806" y="2743200"/>
            <a:ext cx="5152192" cy="3127248"/>
            <a:chOff x="6583680" y="2403165"/>
            <a:chExt cx="4800600" cy="2871216"/>
          </a:xfrm>
        </p:grpSpPr>
        <p:sp>
          <p:nvSpPr>
            <p:cNvPr id="57" name="Google Shape;57;p2"/>
            <p:cNvSpPr/>
            <p:nvPr/>
          </p:nvSpPr>
          <p:spPr>
            <a:xfrm>
              <a:off x="6583680" y="2403165"/>
              <a:ext cx="2560320" cy="1499616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583680" y="2567756"/>
              <a:ext cx="2560320" cy="5758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743B"/>
                </a:buClr>
                <a:buSzPts val="3200"/>
                <a:buFont typeface="Arial"/>
                <a:buNone/>
              </a:pPr>
              <a:r>
                <a:rPr b="1" lang="en-US" sz="3200">
                  <a:solidFill>
                    <a:srgbClr val="11743B"/>
                  </a:solidFill>
                  <a:latin typeface="Arial"/>
                  <a:ea typeface="Arial"/>
                  <a:cs typeface="Arial"/>
                  <a:sym typeface="Arial"/>
                </a:rPr>
                <a:t>52</a:t>
              </a: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693408" y="3088964"/>
              <a:ext cx="2281012" cy="4318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présentations prévues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8823960" y="2403165"/>
              <a:ext cx="2560320" cy="1499616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8823960" y="2567756"/>
              <a:ext cx="2560320" cy="5758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743B"/>
                </a:buClr>
                <a:buSzPts val="3200"/>
                <a:buFont typeface="Arial"/>
                <a:buNone/>
              </a:pPr>
              <a:r>
                <a:rPr b="1" lang="en-US" sz="3200">
                  <a:solidFill>
                    <a:srgbClr val="11743B"/>
                  </a:solidFill>
                  <a:latin typeface="Arial"/>
                  <a:ea typeface="Arial"/>
                  <a:cs typeface="Arial"/>
                  <a:sym typeface="Arial"/>
                </a:rPr>
                <a:t>6 min</a:t>
              </a: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8933688" y="3088964"/>
              <a:ext cx="2281012" cy="4318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3 min vidéo + 3 min Q&amp;R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583680" y="3774765"/>
              <a:ext cx="2560320" cy="1499616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583680" y="3939356"/>
              <a:ext cx="2560320" cy="5758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743B"/>
                </a:buClr>
                <a:buSzPts val="3200"/>
                <a:buFont typeface="Arial"/>
                <a:buNone/>
              </a:pPr>
              <a:r>
                <a:rPr b="1" lang="en-US" sz="3200">
                  <a:solidFill>
                    <a:srgbClr val="11743B"/>
                  </a:solidFill>
                  <a:latin typeface="Arial"/>
                  <a:ea typeface="Arial"/>
                  <a:cs typeface="Arial"/>
                  <a:sym typeface="Arial"/>
                </a:rPr>
                <a:t>100 pts</a:t>
              </a: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693408" y="4460564"/>
              <a:ext cx="2281012" cy="4318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grille commune de notation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8823960" y="3774765"/>
              <a:ext cx="2560320" cy="1499616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823960" y="3939356"/>
              <a:ext cx="2560320" cy="5758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743B"/>
                </a:buClr>
                <a:buSzPts val="3200"/>
                <a:buFont typeface="Arial"/>
                <a:buNone/>
              </a:pPr>
              <a:r>
                <a:rPr b="1" lang="en-US" sz="3200">
                  <a:solidFill>
                    <a:srgbClr val="11743B"/>
                  </a:solidFill>
                  <a:latin typeface="Arial"/>
                  <a:ea typeface="Arial"/>
                  <a:cs typeface="Arial"/>
                  <a:sym typeface="Arial"/>
                </a:rPr>
                <a:t>70%</a:t>
              </a:r>
              <a:endPara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8933688" y="4460564"/>
              <a:ext cx="2281012" cy="4318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De la note finale du bootcamp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11745468" y="6588251"/>
            <a:ext cx="256032" cy="181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02920" y="5029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Le projet final IA &amp; ML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02920" y="987552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 prototype utile, pas un simple exercice technique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" name="Google Shape;77;p3"/>
          <p:cNvGrpSpPr/>
          <p:nvPr/>
        </p:nvGrpSpPr>
        <p:grpSpPr>
          <a:xfrm>
            <a:off x="502920" y="1965960"/>
            <a:ext cx="11494008" cy="2220849"/>
            <a:chOff x="502920" y="1417320"/>
            <a:chExt cx="11494008" cy="3383280"/>
          </a:xfrm>
        </p:grpSpPr>
        <p:sp>
          <p:nvSpPr>
            <p:cNvPr id="78" name="Google Shape;78;p3"/>
            <p:cNvSpPr/>
            <p:nvPr/>
          </p:nvSpPr>
          <p:spPr>
            <a:xfrm>
              <a:off x="502920" y="1417320"/>
              <a:ext cx="1664208" cy="338328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502920" y="1417320"/>
              <a:ext cx="1664208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612648" y="159105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033272" y="1581912"/>
              <a:ext cx="1005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Problème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1033272" y="2066543"/>
              <a:ext cx="1024128" cy="2642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Identifier un défi clair et formuler le besoin.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2468880" y="1417320"/>
              <a:ext cx="1664208" cy="338328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2468880" y="1417320"/>
              <a:ext cx="1664208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2578608" y="159105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2999232" y="1581912"/>
              <a:ext cx="1005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Données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999232" y="2066543"/>
              <a:ext cx="1024128" cy="2642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Collecter, nettoyer, préparer et documenter les données.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4434840" y="1417320"/>
              <a:ext cx="1664208" cy="338328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4434840" y="1417320"/>
              <a:ext cx="1664208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4544568" y="159105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4965192" y="1581912"/>
              <a:ext cx="1005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Modèle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4965192" y="2066543"/>
              <a:ext cx="1024128" cy="2642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Entraîner ou ajuster un modèle ML, GenAI, LLM ou réseau neuronal.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6400800" y="1417320"/>
              <a:ext cx="1664208" cy="338328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6400800" y="1417320"/>
              <a:ext cx="1664208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6510528" y="159105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6931152" y="1581912"/>
              <a:ext cx="1005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Évaluation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6931152" y="2066543"/>
              <a:ext cx="1024128" cy="2642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Mesurer la performance avec des métriques adaptées.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8366760" y="1417320"/>
              <a:ext cx="1664208" cy="338328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8366760" y="1417320"/>
              <a:ext cx="1664208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8476488" y="159105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8897112" y="1581912"/>
              <a:ext cx="1005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Démo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8897112" y="2066543"/>
              <a:ext cx="1024128" cy="2642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Intégrer le résultat dans une app, API ou interface exploitable.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0332720" y="1417320"/>
              <a:ext cx="1664208" cy="338328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0332720" y="1417320"/>
              <a:ext cx="1664208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0442448" y="159105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0863072" y="1581912"/>
              <a:ext cx="1005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Pitch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0863072" y="2066543"/>
              <a:ext cx="1024128" cy="2642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Expliquer les choix, les résultats et les limites.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p3"/>
          <p:cNvSpPr/>
          <p:nvPr/>
        </p:nvSpPr>
        <p:spPr>
          <a:xfrm>
            <a:off x="502920" y="4501234"/>
            <a:ext cx="11494008" cy="420624"/>
          </a:xfrm>
          <a:prstGeom prst="rect">
            <a:avLst/>
          </a:prstGeom>
          <a:solidFill>
            <a:srgbClr val="EAF4ED"/>
          </a:solidFill>
          <a:ln cap="flat" cmpd="sng" w="10150">
            <a:solidFill>
              <a:srgbClr val="EAF4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E2A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B4E2A"/>
                </a:solidFill>
                <a:latin typeface="Arial"/>
                <a:ea typeface="Arial"/>
                <a:cs typeface="Arial"/>
                <a:sym typeface="Arial"/>
              </a:rPr>
              <a:t>Fil directeur : partir d’un problème réel, livrer une solution fonctionnelle et expliquer les compromis techniques.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talogos/tta_top_logo.png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5624" y="205744"/>
            <a:ext cx="1936376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/>
          <p:nvPr/>
        </p:nvSpPr>
        <p:spPr>
          <a:xfrm>
            <a:off x="502920" y="6633976"/>
            <a:ext cx="20116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TECH TALENT ACCELERATOR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074920" y="6576824"/>
            <a:ext cx="2560320" cy="22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Demo Day Bootcamp GenAI &amp; ML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11688318" y="6633972"/>
            <a:ext cx="256032" cy="22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02920" y="5029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12 jours de finalisation jusqu’au Demo Day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02920" y="987552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 rythme court pour verrouiller, tester et présenter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4"/>
          <p:cNvGrpSpPr/>
          <p:nvPr/>
        </p:nvGrpSpPr>
        <p:grpSpPr>
          <a:xfrm>
            <a:off x="502920" y="1554480"/>
            <a:ext cx="11548872" cy="3246120"/>
            <a:chOff x="502920" y="1554480"/>
            <a:chExt cx="11548872" cy="3246120"/>
          </a:xfrm>
        </p:grpSpPr>
        <p:sp>
          <p:nvSpPr>
            <p:cNvPr id="121" name="Google Shape;121;p4"/>
            <p:cNvSpPr/>
            <p:nvPr/>
          </p:nvSpPr>
          <p:spPr>
            <a:xfrm>
              <a:off x="502920" y="1554480"/>
              <a:ext cx="2148840" cy="3246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667512" y="1773936"/>
              <a:ext cx="594360" cy="237744"/>
            </a:xfrm>
            <a:prstGeom prst="rect">
              <a:avLst/>
            </a:prstGeom>
            <a:solidFill>
              <a:srgbClr val="11743B"/>
            </a:solidFill>
            <a:ln cap="flat" cmpd="sng" w="9525">
              <a:solidFill>
                <a:srgbClr val="11743B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J-12</a:t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667512" y="2240280"/>
              <a:ext cx="1819656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000"/>
                <a:buFont typeface="Arial"/>
                <a:buNone/>
              </a:pPr>
              <a:r>
                <a:rPr b="1" lang="en-US" sz="20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Cadrage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667512" y="2697480"/>
              <a:ext cx="1819656" cy="1188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Sujet validé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Problème formulé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Données identifiées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2852928" y="1554480"/>
              <a:ext cx="2148840" cy="3246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3017520" y="2240280"/>
              <a:ext cx="1819656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000"/>
                <a:buFont typeface="Arial"/>
                <a:buNone/>
              </a:pPr>
              <a:r>
                <a:rPr b="1" lang="en-US" sz="20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Prototype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3017520" y="2697480"/>
              <a:ext cx="1819656" cy="1188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Architecture définie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Premier modèle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Risques listés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202936" y="1554480"/>
              <a:ext cx="2148840" cy="3246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5367528" y="2240280"/>
              <a:ext cx="1819656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000"/>
                <a:buFont typeface="Arial"/>
                <a:buNone/>
              </a:pPr>
              <a:r>
                <a:rPr b="1" lang="en-US" sz="20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Construction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5367528" y="2697480"/>
              <a:ext cx="1819656" cy="1188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Fonction cœur développée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Tests intermédiaires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Mentorat ciblé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7552944" y="1554480"/>
              <a:ext cx="2148840" cy="3246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7717536" y="2240280"/>
              <a:ext cx="1819656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000"/>
                <a:buFont typeface="Arial"/>
                <a:buNone/>
              </a:pPr>
              <a:r>
                <a:rPr b="1" lang="en-US" sz="20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Stabilisation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7717536" y="2697480"/>
              <a:ext cx="1819656" cy="1188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Intégration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Correction des erreurs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Métriques finalisées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9902952" y="1554480"/>
              <a:ext cx="2148840" cy="3246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10067544" y="1773936"/>
              <a:ext cx="594360" cy="237744"/>
            </a:xfrm>
            <a:prstGeom prst="rect">
              <a:avLst/>
            </a:prstGeom>
            <a:solidFill>
              <a:srgbClr val="11743B"/>
            </a:solidFill>
            <a:ln cap="flat" cmpd="sng" w="9525">
              <a:solidFill>
                <a:srgbClr val="11743B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J-0</a:t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10067544" y="2240280"/>
              <a:ext cx="1819656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000"/>
                <a:buFont typeface="Arial"/>
                <a:buNone/>
              </a:pPr>
              <a:r>
                <a:rPr b="1" lang="en-US" sz="20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Soumission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10067544" y="2697480"/>
              <a:ext cx="1819656" cy="1188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PDF finalisé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Vidéo 3 à 5 min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• Upload avant 10h00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4"/>
          <p:cNvSpPr/>
          <p:nvPr/>
        </p:nvSpPr>
        <p:spPr>
          <a:xfrm>
            <a:off x="502920" y="5230368"/>
            <a:ext cx="10972800" cy="347472"/>
          </a:xfrm>
          <a:prstGeom prst="rect">
            <a:avLst/>
          </a:prstGeom>
          <a:solidFill>
            <a:srgbClr val="EAF4ED"/>
          </a:solidFill>
          <a:ln cap="flat" cmpd="sng" w="10150">
            <a:solidFill>
              <a:srgbClr val="EAF4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E2A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B4E2A"/>
                </a:solidFill>
                <a:latin typeface="Arial"/>
                <a:ea typeface="Arial"/>
                <a:cs typeface="Arial"/>
                <a:sym typeface="Arial"/>
              </a:rPr>
              <a:t>Les 29 et 30 juillet : présentations en continu de 14h00 à 18h00 devant un jury d’experts en IA et Transformation numerique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talogos/tta_top_logo.png"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5624" y="205744"/>
            <a:ext cx="1936376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502920" y="6633976"/>
            <a:ext cx="20116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TECH TALENT ACCELERATOR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074920" y="6576824"/>
            <a:ext cx="2560320" cy="22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Demo Day Bootcamp GenAI &amp; ML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11722608" y="6588252"/>
            <a:ext cx="256032" cy="281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02920" y="5029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Avant l’activité - préparer les étudiants à livrer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02920" y="987552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La qualité du Demo Day se joue avant le jour J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p5"/>
          <p:cNvGrpSpPr/>
          <p:nvPr/>
        </p:nvGrpSpPr>
        <p:grpSpPr>
          <a:xfrm>
            <a:off x="502920" y="1732791"/>
            <a:ext cx="11018520" cy="3849053"/>
            <a:chOff x="502920" y="1508760"/>
            <a:chExt cx="11018520" cy="2377440"/>
          </a:xfrm>
        </p:grpSpPr>
        <p:sp>
          <p:nvSpPr>
            <p:cNvPr id="151" name="Google Shape;151;p5"/>
            <p:cNvSpPr/>
            <p:nvPr/>
          </p:nvSpPr>
          <p:spPr>
            <a:xfrm>
              <a:off x="502920" y="150876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502920" y="150876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612648" y="168249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👥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033272" y="167335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Nommer les référents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033272" y="1984248"/>
              <a:ext cx="2788920" cy="29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Un point focal pour les apprenants, formateurs, jury et logistique.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4297680" y="150876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4297680" y="150876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4407408" y="168249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📄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4828032" y="167335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Publier les consignes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4828032" y="198424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Livrables, format vidéo, formulaire, heure limite et grille de notation.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8092440" y="150876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8092440" y="150876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8202168" y="168249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🎯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8622792" y="167335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Valider les sujets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622792" y="198424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Chaque projet doit résoudre un problème réel avec l’IA au cœur.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502920" y="292608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502920" y="292608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612648" y="309981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🧭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1033272" y="309067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Préparer les mentors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1033272" y="340156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Appui léger sur architecture, données, métriques et démonstration.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4297680" y="292608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4297680" y="292608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4407408" y="309981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🧪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4828032" y="309067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Tester la technique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4828032" y="340156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Drive, vidéos, PDF, projection, son, chronomètre et internet.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8092440" y="292608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8092440" y="292608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8202168" y="309981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⚖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8622792" y="309067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800"/>
                <a:buFont typeface="Arial"/>
                <a:buNone/>
              </a:pPr>
              <a:r>
                <a:rPr b="1" lang="en-US" sz="18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Informer le jury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8622792" y="340156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Rôles, barème, seuil proposé et confidentialité des résultats.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/mnt/data/ttalogos/tta_top_logo.png" id="181" name="Google Shape;1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5624" y="205744"/>
            <a:ext cx="1936376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"/>
          <p:cNvSpPr/>
          <p:nvPr/>
        </p:nvSpPr>
        <p:spPr>
          <a:xfrm>
            <a:off x="502920" y="6633976"/>
            <a:ext cx="20116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TECH TALENT ACCELERATOR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074920" y="6576824"/>
            <a:ext cx="2560320" cy="22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Demo Day Bootcamp GenAI &amp; ML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11791188" y="6565392"/>
            <a:ext cx="228600" cy="22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02920" y="5029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Consignes aux apprenants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02920" y="987552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Ce qui doit être livré et respecté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6"/>
          <p:cNvGrpSpPr/>
          <p:nvPr/>
        </p:nvGrpSpPr>
        <p:grpSpPr>
          <a:xfrm>
            <a:off x="502920" y="1600200"/>
            <a:ext cx="11356848" cy="1638666"/>
            <a:chOff x="502920" y="1600200"/>
            <a:chExt cx="11356848" cy="1638666"/>
          </a:xfrm>
        </p:grpSpPr>
        <p:sp>
          <p:nvSpPr>
            <p:cNvPr id="193" name="Google Shape;193;p6"/>
            <p:cNvSpPr/>
            <p:nvPr/>
          </p:nvSpPr>
          <p:spPr>
            <a:xfrm>
              <a:off x="502920" y="1600200"/>
              <a:ext cx="3534289" cy="1638666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502920" y="1600200"/>
              <a:ext cx="3534289" cy="54622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Arial"/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616017" y="1896721"/>
              <a:ext cx="339292" cy="561828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PDF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1049557" y="1881114"/>
              <a:ext cx="2855705" cy="436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Présentation PDF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1049557" y="2137411"/>
              <a:ext cx="2874555" cy="4369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50"/>
                <a:buFont typeface="Arial"/>
                <a:buNone/>
              </a:pPr>
              <a:r>
                <a:rPr lang="en-US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Un support synthétique qui décrit le problème, l’approche, le modèle, les résultats et les limites.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4414200" y="1600200"/>
              <a:ext cx="3534289" cy="1638666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4414200" y="1600200"/>
              <a:ext cx="3534289" cy="54622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Arial"/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4527297" y="1896721"/>
              <a:ext cx="339292" cy="561828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VID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960836" y="1881114"/>
              <a:ext cx="2855705" cy="436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Vidéo projetée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4960836" y="2137412"/>
              <a:ext cx="2874555" cy="436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50"/>
                <a:buFont typeface="Arial"/>
                <a:buNone/>
              </a:pPr>
              <a:r>
                <a:rPr lang="en-US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Une vidéo de 3 à 5 minutes maximum, lisible sans manipulation complexe.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8325479" y="1600200"/>
              <a:ext cx="3534289" cy="1638666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8325479" y="1600200"/>
              <a:ext cx="3534289" cy="54622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0"/>
                <a:buFont typeface="Arial"/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8438576" y="1896721"/>
              <a:ext cx="339292" cy="561828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UP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8872116" y="1881114"/>
              <a:ext cx="2855705" cy="436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Dépôt obligatoire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8872116" y="2137412"/>
              <a:ext cx="2874555" cy="436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50"/>
                <a:buFont typeface="Arial"/>
                <a:buNone/>
              </a:pPr>
              <a:r>
                <a:rPr lang="en-US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Les fichiers sont téléchargés via le formulaire au plus tard le 29 juillet à 10h00.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6"/>
          <p:cNvSpPr/>
          <p:nvPr/>
        </p:nvSpPr>
        <p:spPr>
          <a:xfrm>
            <a:off x="502920" y="4019184"/>
            <a:ext cx="3534289" cy="1638666"/>
          </a:xfrm>
          <a:prstGeom prst="rect">
            <a:avLst/>
          </a:prstGeom>
          <a:solidFill>
            <a:srgbClr val="F7F8F7"/>
          </a:solidFill>
          <a:ln cap="flat" cmpd="sng" w="10150">
            <a:solidFill>
              <a:srgbClr val="E3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02920" y="4019184"/>
            <a:ext cx="3534289" cy="54622"/>
          </a:xfrm>
          <a:prstGeom prst="rect">
            <a:avLst/>
          </a:prstGeom>
          <a:solidFill>
            <a:srgbClr val="11743B"/>
          </a:solidFill>
          <a:ln cap="flat" cmpd="sng" w="10150">
            <a:solidFill>
              <a:srgbClr val="11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616017" y="4315704"/>
            <a:ext cx="339292" cy="561828"/>
          </a:xfrm>
          <a:prstGeom prst="roundRect">
            <a:avLst>
              <a:gd fmla="val 16667" name="adj"/>
            </a:avLst>
          </a:prstGeom>
          <a:solidFill>
            <a:srgbClr val="11743B"/>
          </a:solidFill>
          <a:ln cap="flat" cmpd="sng" w="10150">
            <a:solidFill>
              <a:srgbClr val="11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1049557" y="4300098"/>
            <a:ext cx="2855705" cy="436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Tenue et posture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1049557" y="4567826"/>
            <a:ext cx="2874555" cy="427085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Tenue correcte exigée. Réponses courtes, précises et professionnelles.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414200" y="4019184"/>
            <a:ext cx="3534289" cy="1638666"/>
          </a:xfrm>
          <a:prstGeom prst="rect">
            <a:avLst/>
          </a:prstGeom>
          <a:solidFill>
            <a:srgbClr val="F7F8F7"/>
          </a:solidFill>
          <a:ln cap="flat" cmpd="sng" w="10150">
            <a:solidFill>
              <a:srgbClr val="E3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414200" y="4019184"/>
            <a:ext cx="3534289" cy="54622"/>
          </a:xfrm>
          <a:prstGeom prst="rect">
            <a:avLst/>
          </a:prstGeom>
          <a:solidFill>
            <a:srgbClr val="11743B"/>
          </a:solidFill>
          <a:ln cap="flat" cmpd="sng" w="10150">
            <a:solidFill>
              <a:srgbClr val="11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527297" y="4315704"/>
            <a:ext cx="339292" cy="561828"/>
          </a:xfrm>
          <a:prstGeom prst="roundRect">
            <a:avLst>
              <a:gd fmla="val 16667" name="adj"/>
            </a:avLst>
          </a:prstGeom>
          <a:solidFill>
            <a:srgbClr val="11743B"/>
          </a:solidFill>
          <a:ln cap="flat" cmpd="sng" w="10150">
            <a:solidFill>
              <a:srgbClr val="11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31/07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960836" y="4300098"/>
            <a:ext cx="2855705" cy="436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Confidentialité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960836" y="4567826"/>
            <a:ext cx="2874555" cy="427085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Le projet final présenté reste la propriété exclusive de l’ rétudiant(e) qui l’a rréalisé. 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325479" y="4019184"/>
            <a:ext cx="3534289" cy="1638666"/>
          </a:xfrm>
          <a:prstGeom prst="rect">
            <a:avLst/>
          </a:prstGeom>
          <a:solidFill>
            <a:srgbClr val="F7F8F7"/>
          </a:solidFill>
          <a:ln cap="flat" cmpd="sng" w="10150">
            <a:solidFill>
              <a:srgbClr val="E3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8325479" y="4019184"/>
            <a:ext cx="3534289" cy="54622"/>
          </a:xfrm>
          <a:prstGeom prst="rect">
            <a:avLst/>
          </a:prstGeom>
          <a:solidFill>
            <a:srgbClr val="11743B"/>
          </a:solidFill>
          <a:ln cap="flat" cmpd="sng" w="10150">
            <a:solidFill>
              <a:srgbClr val="11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8438576" y="4315704"/>
            <a:ext cx="339292" cy="561828"/>
          </a:xfrm>
          <a:prstGeom prst="roundRect">
            <a:avLst>
              <a:gd fmla="val 16667" name="adj"/>
            </a:avLst>
          </a:prstGeom>
          <a:solidFill>
            <a:srgbClr val="11743B"/>
          </a:solidFill>
          <a:ln cap="flat" cmpd="sng" w="10150">
            <a:solidFill>
              <a:srgbClr val="11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872116" y="4300098"/>
            <a:ext cx="2855705" cy="436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Formulaire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8872116" y="4556394"/>
            <a:ext cx="2874555" cy="35637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92"/>
              <a:buFont typeface="Arial"/>
              <a:buNone/>
            </a:pPr>
            <a:r>
              <a:rPr lang="en-US" sz="89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Les étudiants doivent déposer les présentations de leur projet via le Lien suivant : https://shorturl.at/LfFO9</a:t>
            </a:r>
            <a:endParaRPr/>
          </a:p>
        </p:txBody>
      </p:sp>
      <p:pic>
        <p:nvPicPr>
          <p:cNvPr descr="/mnt/data/ttalogos/tta_top_logo.png" id="223" name="Google Shape;2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5624" y="205744"/>
            <a:ext cx="1936376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"/>
          <p:cNvSpPr/>
          <p:nvPr/>
        </p:nvSpPr>
        <p:spPr>
          <a:xfrm>
            <a:off x="502920" y="6633976"/>
            <a:ext cx="20116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TECH TALENT ACCELERATOR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5074920" y="6576824"/>
            <a:ext cx="2560320" cy="22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Demo Day Bootcamp GenAI &amp; ML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/>
          <p:nvPr/>
        </p:nvSpPr>
        <p:spPr>
          <a:xfrm>
            <a:off x="11722608" y="6565392"/>
            <a:ext cx="278892" cy="281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02920" y="5029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Demo Day - agenda du 29 et 30 juillet 2026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7"/>
          <p:cNvGrpSpPr/>
          <p:nvPr/>
        </p:nvGrpSpPr>
        <p:grpSpPr>
          <a:xfrm>
            <a:off x="685800" y="1929392"/>
            <a:ext cx="10698480" cy="2496312"/>
            <a:chOff x="685800" y="1554480"/>
            <a:chExt cx="10698480" cy="2496312"/>
          </a:xfrm>
        </p:grpSpPr>
        <p:sp>
          <p:nvSpPr>
            <p:cNvPr id="234" name="Google Shape;234;p7"/>
            <p:cNvSpPr/>
            <p:nvPr/>
          </p:nvSpPr>
          <p:spPr>
            <a:xfrm>
              <a:off x="685800" y="1554480"/>
              <a:ext cx="2103120" cy="411480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" lIns="1000" spcFirstLastPara="1" rIns="1000" wrap="square" tIns="10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Horaire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2788920" y="1554480"/>
              <a:ext cx="3657600" cy="411480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" lIns="1000" spcFirstLastPara="1" rIns="1000" wrap="square" tIns="10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Séquence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6446520" y="1554480"/>
              <a:ext cx="4937760" cy="411480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" lIns="1000" spcFirstLastPara="1" rIns="1000" wrap="square" tIns="10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Détail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685800" y="1965960"/>
              <a:ext cx="2103120" cy="694944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" lIns="1000" spcFirstLastPara="1" rIns="1000" wrap="square" tIns="10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13h45-14h00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2788920" y="1965960"/>
              <a:ext cx="3657600" cy="694944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" lIns="1000" spcFirstLastPara="1" rIns="1000" wrap="square" tIns="10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Accueil &amp; installation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6446520" y="1965960"/>
              <a:ext cx="4937760" cy="694944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" lIns="1000" spcFirstLastPara="1" rIns="1000" wrap="square" tIns="10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Jury, apprenants, formateurs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685800" y="2660904"/>
              <a:ext cx="2103120" cy="694944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" lIns="1000" spcFirstLastPara="1" rIns="1000" wrap="square" tIns="10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14h00-18h00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2788920" y="2660904"/>
              <a:ext cx="3657600" cy="694944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" lIns="1000" spcFirstLastPara="1" rIns="1000" wrap="square" tIns="10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Présentations en continu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6446520" y="2660904"/>
              <a:ext cx="4937760" cy="694944"/>
            </a:xfrm>
            <a:prstGeom prst="rect">
              <a:avLst/>
            </a:prstGeom>
            <a:solidFill>
              <a:srgbClr val="FFFFFF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" lIns="1000" spcFirstLastPara="1" rIns="1000" wrap="square" tIns="10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6 min par passage projet étudiant.e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685800" y="3355848"/>
              <a:ext cx="2103120" cy="694944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" lIns="1000" spcFirstLastPara="1" rIns="1000" wrap="square" tIns="10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18h00-18h15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2788920" y="3355848"/>
              <a:ext cx="3657600" cy="694944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" lIns="1000" spcFirstLastPara="1" rIns="1000" wrap="square" tIns="10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Clôture de la session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6446520" y="3355848"/>
              <a:ext cx="4937760" cy="694944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" lIns="1000" spcFirstLastPara="1" rIns="1000" wrap="square" tIns="10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Synthèse rapide du jury, remerciements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7"/>
          <p:cNvSpPr/>
          <p:nvPr/>
        </p:nvSpPr>
        <p:spPr>
          <a:xfrm>
            <a:off x="685800" y="4937760"/>
            <a:ext cx="10698480" cy="411480"/>
          </a:xfrm>
          <a:prstGeom prst="rect">
            <a:avLst/>
          </a:prstGeom>
          <a:solidFill>
            <a:srgbClr val="EAF4ED"/>
          </a:solidFill>
          <a:ln cap="flat" cmpd="sng" w="10150">
            <a:solidFill>
              <a:srgbClr val="EAF4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E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4E2A"/>
                </a:solidFill>
                <a:latin typeface="Arial"/>
                <a:ea typeface="Arial"/>
                <a:cs typeface="Arial"/>
                <a:sym typeface="Arial"/>
              </a:rPr>
              <a:t>Format de passage : 3 min vidéo projetée + 3 min questions = 6 min par présentation.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talogos/tta_top_logo.png" id="247" name="Google Shape;2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5624" y="205744"/>
            <a:ext cx="1936376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7"/>
          <p:cNvSpPr/>
          <p:nvPr/>
        </p:nvSpPr>
        <p:spPr>
          <a:xfrm>
            <a:off x="502920" y="6633976"/>
            <a:ext cx="20116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TECH TALENT ACCELERATOR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074920" y="6576824"/>
            <a:ext cx="2560320" cy="22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Demo Day Bootcamp GenAI &amp; ML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/>
          <p:nvPr/>
        </p:nvSpPr>
        <p:spPr>
          <a:xfrm>
            <a:off x="11711178" y="6576822"/>
            <a:ext cx="324612" cy="281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502920" y="5029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Rôles et consignes par public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02920" y="987552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Une journée fluide suppose des rôles nets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8" name="Google Shape;258;p8"/>
          <p:cNvGrpSpPr/>
          <p:nvPr/>
        </p:nvGrpSpPr>
        <p:grpSpPr>
          <a:xfrm>
            <a:off x="502920" y="1735082"/>
            <a:ext cx="10744200" cy="2103120"/>
            <a:chOff x="685800" y="1417320"/>
            <a:chExt cx="10744200" cy="2103120"/>
          </a:xfrm>
        </p:grpSpPr>
        <p:sp>
          <p:nvSpPr>
            <p:cNvPr id="259" name="Google Shape;259;p8"/>
            <p:cNvSpPr/>
            <p:nvPr/>
          </p:nvSpPr>
          <p:spPr>
            <a:xfrm>
              <a:off x="685800" y="1417320"/>
              <a:ext cx="3246120" cy="231966"/>
            </a:xfrm>
            <a:prstGeom prst="rect">
              <a:avLst/>
            </a:prstGeom>
            <a:solidFill>
              <a:srgbClr val="11743B"/>
            </a:solidFill>
            <a:ln cap="flat" cmpd="sng" w="9525">
              <a:solidFill>
                <a:srgbClr val="11743B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Arial"/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APPRENANTS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685800" y="1729581"/>
              <a:ext cx="3246120" cy="1790859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2275" lIns="2275" spcFirstLastPara="1" rIns="2275" wrap="square" tIns="2275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• Présenter le projet via PDF et vidéo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• Respecter le format 3 + 3 min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• Répondre clairement aux questions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• Rester disponible jusqu’à la fin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4434840" y="1417320"/>
              <a:ext cx="3246120" cy="231966"/>
            </a:xfrm>
            <a:prstGeom prst="rect">
              <a:avLst/>
            </a:prstGeom>
            <a:solidFill>
              <a:srgbClr val="11743B"/>
            </a:solidFill>
            <a:ln cap="flat" cmpd="sng" w="9525">
              <a:solidFill>
                <a:srgbClr val="11743B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Arial"/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FORMATEURS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4434840" y="1729581"/>
              <a:ext cx="3246120" cy="1790859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2275" lIns="2275" spcFirstLastPara="1" rIns="2275" wrap="square" tIns="2275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• Encadrer et valider les travaux des étudiants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• Préparer les étudiants au pitch final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• S’assurer que tous les étudiants remplissent le formulaire de soumission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• S’assurer de la présence de tous les étudiants au Demo day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8183880" y="1417320"/>
              <a:ext cx="3246120" cy="231966"/>
            </a:xfrm>
            <a:prstGeom prst="rect">
              <a:avLst/>
            </a:prstGeom>
            <a:solidFill>
              <a:srgbClr val="11743B"/>
            </a:solidFill>
            <a:ln cap="flat" cmpd="sng" w="9525">
              <a:solidFill>
                <a:srgbClr val="11743B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Arial"/>
                <a:buNone/>
              </a:pPr>
              <a:r>
                <a:rPr b="1"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JURY &amp; PARTENAIRES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8183880" y="1729581"/>
              <a:ext cx="3246120" cy="1790859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2275" lIns="2275" spcFirstLastPara="1" rIns="2275" wrap="square" tIns="2275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• Evaluer les projets finaux selon la grille définie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• Apporter les conseils nécessaires pour améliorer les projets des étudiants 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• Donner une note commune finale a chaque projet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• Valider ou non chaque projet présenté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" name="Google Shape;265;p8"/>
          <p:cNvSpPr/>
          <p:nvPr/>
        </p:nvSpPr>
        <p:spPr>
          <a:xfrm>
            <a:off x="502920" y="4541145"/>
            <a:ext cx="10744200" cy="411480"/>
          </a:xfrm>
          <a:prstGeom prst="rect">
            <a:avLst/>
          </a:prstGeom>
          <a:solidFill>
            <a:srgbClr val="EAF4ED"/>
          </a:solidFill>
          <a:ln cap="flat" cmpd="sng" w="10150">
            <a:solidFill>
              <a:srgbClr val="EAF4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E2A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B4E2A"/>
                </a:solidFill>
                <a:latin typeface="Arial"/>
                <a:ea typeface="Arial"/>
                <a:cs typeface="Arial"/>
                <a:sym typeface="Arial"/>
              </a:rPr>
              <a:t>Point d’escalade : Tout imprévu est remonté en temps réel au Responsable drs Admissions et Insertion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talogos/tta_top_logo.png" id="266" name="Google Shape;2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5624" y="205744"/>
            <a:ext cx="1936376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8"/>
          <p:cNvSpPr/>
          <p:nvPr/>
        </p:nvSpPr>
        <p:spPr>
          <a:xfrm>
            <a:off x="502920" y="6633976"/>
            <a:ext cx="20116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TECH TALENT ACCELERATOR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074920" y="6576824"/>
            <a:ext cx="2560320" cy="22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Demo Day Bootcamp GenAI &amp; ML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/>
          <p:nvPr/>
        </p:nvSpPr>
        <p:spPr>
          <a:xfrm>
            <a:off x="11642598" y="6519672"/>
            <a:ext cx="35890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502920" y="5029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Soumission &amp; présentation finale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02920" y="987552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Comment les projets sont remis et défendus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685800" y="1863100"/>
            <a:ext cx="5205300" cy="1531500"/>
          </a:xfrm>
          <a:prstGeom prst="rect">
            <a:avLst/>
          </a:prstGeom>
          <a:solidFill>
            <a:srgbClr val="F7F8F7"/>
          </a:solidFill>
          <a:ln cap="flat" cmpd="sng" w="10150">
            <a:solidFill>
              <a:srgbClr val="E3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685800" y="1863100"/>
            <a:ext cx="5205300" cy="32100"/>
          </a:xfrm>
          <a:prstGeom prst="rect">
            <a:avLst/>
          </a:prstGeom>
          <a:solidFill>
            <a:srgbClr val="11743B"/>
          </a:solidFill>
          <a:ln cap="flat" cmpd="sng" w="10150">
            <a:solidFill>
              <a:srgbClr val="11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795528" y="2036826"/>
            <a:ext cx="329184" cy="329184"/>
          </a:xfrm>
          <a:prstGeom prst="roundRect">
            <a:avLst>
              <a:gd fmla="val 16667" name="adj"/>
            </a:avLst>
          </a:prstGeom>
          <a:solidFill>
            <a:srgbClr val="11743B"/>
          </a:solidFill>
          <a:ln cap="flat" cmpd="sng" w="10150">
            <a:solidFill>
              <a:srgbClr val="11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⬆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216152" y="2027682"/>
            <a:ext cx="4187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Soumission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1216150" y="2416300"/>
            <a:ext cx="46083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 Un projet par apprenant.e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 Le formulaire de soumission complété par chaque étudian</a:t>
            </a:r>
            <a:r>
              <a:rPr lang="en-US" sz="1200">
                <a:solidFill>
                  <a:srgbClr val="666666"/>
                </a:solidFill>
              </a:rPr>
              <a:t>t</a:t>
            </a:r>
            <a:br>
              <a:rPr lang="en-US" sz="1200">
                <a:solidFill>
                  <a:srgbClr val="666666"/>
                </a:solidFill>
              </a:rPr>
            </a:br>
            <a:r>
              <a:rPr lang="en-US" sz="1200">
                <a:solidFill>
                  <a:srgbClr val="666666"/>
                </a:solidFill>
              </a:rPr>
              <a:t>  </a:t>
            </a:r>
            <a:r>
              <a:rPr lang="en-US" sz="893">
                <a:solidFill>
                  <a:srgbClr val="666666"/>
                </a:solidFill>
              </a:rPr>
              <a:t>Rappel lien formulaire : https://shorturl.at/LfFO9</a:t>
            </a:r>
            <a:br>
              <a:rPr lang="en-US" sz="1200">
                <a:solidFill>
                  <a:srgbClr val="666666"/>
                </a:solidFill>
              </a:rPr>
            </a:br>
            <a:r>
              <a:rPr lang="en-US" sz="1200">
                <a:solidFill>
                  <a:srgbClr val="666666"/>
                </a:solidFill>
              </a:rPr>
              <a:t>• Une p</a:t>
            </a:r>
            <a:r>
              <a:rPr lang="en-US" sz="1200">
                <a:solidFill>
                  <a:srgbClr val="666666"/>
                </a:solidFill>
              </a:rPr>
              <a:t>résentation pdf du projet + Une présentation vidéo du projet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 Date et heure limite de soumission : le 29 juillet à 10h00 gmt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85800" y="3714750"/>
            <a:ext cx="5205300" cy="1353300"/>
          </a:xfrm>
          <a:prstGeom prst="rect">
            <a:avLst/>
          </a:prstGeom>
          <a:solidFill>
            <a:srgbClr val="F7F8F7"/>
          </a:solidFill>
          <a:ln cap="flat" cmpd="sng" w="10150">
            <a:solidFill>
              <a:srgbClr val="E3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685800" y="3714750"/>
            <a:ext cx="5205300" cy="32100"/>
          </a:xfrm>
          <a:prstGeom prst="rect">
            <a:avLst/>
          </a:prstGeom>
          <a:solidFill>
            <a:srgbClr val="11743B"/>
          </a:solidFill>
          <a:ln cap="flat" cmpd="sng" w="10150">
            <a:solidFill>
              <a:srgbClr val="11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795528" y="3888486"/>
            <a:ext cx="329184" cy="329184"/>
          </a:xfrm>
          <a:prstGeom prst="roundRect">
            <a:avLst>
              <a:gd fmla="val 16667" name="adj"/>
            </a:avLst>
          </a:prstGeom>
          <a:solidFill>
            <a:srgbClr val="11743B"/>
          </a:solidFill>
          <a:ln cap="flat" cmpd="sng" w="10150">
            <a:solidFill>
              <a:srgbClr val="11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🎤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1216152" y="3879342"/>
            <a:ext cx="4187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Présentation finale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1216152" y="4298826"/>
            <a:ext cx="4206240" cy="715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 3 minutes de projection vidéo par projet étudiant.e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 3 minutes de questions/commentaires avec le jury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 Pas de dépassement de temps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6400800" y="186309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Temps de passage par étudiant.e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7360920" y="2366010"/>
            <a:ext cx="2468880" cy="1234440"/>
          </a:xfrm>
          <a:prstGeom prst="roundRect">
            <a:avLst>
              <a:gd fmla="val 16667" name="adj"/>
            </a:avLst>
          </a:prstGeom>
          <a:solidFill>
            <a:srgbClr val="11743B"/>
          </a:solidFill>
          <a:ln cap="flat" cmpd="sng" w="10150">
            <a:solidFill>
              <a:srgbClr val="11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+ 3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8092440" y="3394710"/>
            <a:ext cx="1005840" cy="187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minutes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6400800" y="4091940"/>
            <a:ext cx="438912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3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 min  Vidéo du projet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6400800" y="4640580"/>
            <a:ext cx="438912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3E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 min  Questions du jury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talogos/tta_top_logo.png" id="292" name="Google Shape;2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5624" y="205744"/>
            <a:ext cx="1936376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9"/>
          <p:cNvSpPr/>
          <p:nvPr/>
        </p:nvSpPr>
        <p:spPr>
          <a:xfrm>
            <a:off x="502920" y="6633976"/>
            <a:ext cx="20116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TECH TALENT ACCELERATOR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5074920" y="6576824"/>
            <a:ext cx="2560320" cy="22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Demo Day Bootcamp GenAI &amp; ML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"/>
          <p:cNvSpPr/>
          <p:nvPr/>
        </p:nvSpPr>
        <p:spPr>
          <a:xfrm>
            <a:off x="11631168" y="6576822"/>
            <a:ext cx="381762" cy="281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02920" y="5029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Grille de notation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02920" y="987552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100 points, cinq critères, même barème pour tous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" name="Google Shape;303;p10"/>
          <p:cNvGrpSpPr/>
          <p:nvPr/>
        </p:nvGrpSpPr>
        <p:grpSpPr>
          <a:xfrm>
            <a:off x="502920" y="1764567"/>
            <a:ext cx="10355580" cy="4105881"/>
            <a:chOff x="685800" y="2089179"/>
            <a:chExt cx="10355580" cy="4105881"/>
          </a:xfrm>
        </p:grpSpPr>
        <p:grpSp>
          <p:nvGrpSpPr>
            <p:cNvPr id="304" name="Google Shape;304;p10"/>
            <p:cNvGrpSpPr/>
            <p:nvPr/>
          </p:nvGrpSpPr>
          <p:grpSpPr>
            <a:xfrm>
              <a:off x="685800" y="2089179"/>
              <a:ext cx="10355580" cy="452628"/>
              <a:chOff x="685800" y="1417320"/>
              <a:chExt cx="10355580" cy="452628"/>
            </a:xfrm>
          </p:grpSpPr>
          <p:sp>
            <p:nvSpPr>
              <p:cNvPr id="305" name="Google Shape;305;p10"/>
              <p:cNvSpPr/>
              <p:nvPr/>
            </p:nvSpPr>
            <p:spPr>
              <a:xfrm>
                <a:off x="685800" y="1417320"/>
                <a:ext cx="1000539" cy="452628"/>
              </a:xfrm>
              <a:prstGeom prst="rect">
                <a:avLst/>
              </a:prstGeom>
              <a:solidFill>
                <a:srgbClr val="11743B"/>
              </a:solidFill>
              <a:ln cap="flat" cmpd="sng" w="10150">
                <a:solidFill>
                  <a:srgbClr val="1174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00" lIns="1000" spcFirstLastPara="1" rIns="1000" wrap="square" tIns="1000">
                <a:norm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30 pts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10"/>
              <p:cNvSpPr/>
              <p:nvPr/>
            </p:nvSpPr>
            <p:spPr>
              <a:xfrm>
                <a:off x="1936474" y="1417320"/>
                <a:ext cx="3201725" cy="2212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11111"/>
                  </a:buClr>
                  <a:buSzPts val="1400"/>
                  <a:buFont typeface="Arial"/>
                  <a:buNone/>
                </a:pPr>
                <a:r>
                  <a:rPr b="1" lang="en-US" sz="1400">
                    <a:solidFill>
                      <a:srgbClr val="111111"/>
                    </a:solidFill>
                    <a:latin typeface="Arial"/>
                    <a:ea typeface="Arial"/>
                    <a:cs typeface="Arial"/>
                    <a:sym typeface="Arial"/>
                  </a:rPr>
                  <a:t>Maîtrise technique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10"/>
              <p:cNvSpPr/>
              <p:nvPr/>
            </p:nvSpPr>
            <p:spPr>
              <a:xfrm>
                <a:off x="1936474" y="1678838"/>
                <a:ext cx="4602480" cy="181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66666"/>
                  </a:buClr>
                  <a:buSzPts val="1000"/>
                  <a:buFont typeface="Arial"/>
                  <a:buNone/>
                </a:pPr>
                <a:r>
                  <a:rPr lang="en-US" sz="1000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Architecture IA/ML, qualité, choix techniques, robustesse</a:t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10"/>
              <p:cNvSpPr/>
              <p:nvPr/>
            </p:nvSpPr>
            <p:spPr>
              <a:xfrm>
                <a:off x="6839116" y="1517904"/>
                <a:ext cx="4202264" cy="221285"/>
              </a:xfrm>
              <a:prstGeom prst="rect">
                <a:avLst/>
              </a:prstGeom>
              <a:solidFill>
                <a:srgbClr val="11743B"/>
              </a:solidFill>
              <a:ln cap="flat" cmpd="sng" w="10150">
                <a:solidFill>
                  <a:srgbClr val="1174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000" lIns="1000" spcFirstLastPara="1" rIns="1000" wrap="square" tIns="100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9" name="Google Shape;309;p10"/>
            <p:cNvGrpSpPr/>
            <p:nvPr/>
          </p:nvGrpSpPr>
          <p:grpSpPr>
            <a:xfrm>
              <a:off x="685800" y="2809954"/>
              <a:ext cx="10355580" cy="452628"/>
              <a:chOff x="685800" y="2272284"/>
              <a:chExt cx="10355580" cy="452628"/>
            </a:xfrm>
          </p:grpSpPr>
          <p:sp>
            <p:nvSpPr>
              <p:cNvPr id="310" name="Google Shape;310;p10"/>
              <p:cNvSpPr/>
              <p:nvPr/>
            </p:nvSpPr>
            <p:spPr>
              <a:xfrm>
                <a:off x="685800" y="2272284"/>
                <a:ext cx="1000539" cy="452628"/>
              </a:xfrm>
              <a:prstGeom prst="rect">
                <a:avLst/>
              </a:prstGeom>
              <a:solidFill>
                <a:srgbClr val="171717"/>
              </a:solidFill>
              <a:ln cap="flat" cmpd="sng" w="10150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00" lIns="1000" spcFirstLastPara="1" rIns="1000" wrap="square" tIns="1000">
                <a:norm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20 pts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10"/>
              <p:cNvSpPr/>
              <p:nvPr/>
            </p:nvSpPr>
            <p:spPr>
              <a:xfrm>
                <a:off x="1936474" y="2272284"/>
                <a:ext cx="3201725" cy="2212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11111"/>
                  </a:buClr>
                  <a:buSzPts val="1400"/>
                  <a:buFont typeface="Arial"/>
                  <a:buNone/>
                </a:pPr>
                <a:r>
                  <a:rPr b="1" lang="en-US" sz="1400">
                    <a:solidFill>
                      <a:srgbClr val="111111"/>
                    </a:solidFill>
                    <a:latin typeface="Arial"/>
                    <a:ea typeface="Arial"/>
                    <a:cs typeface="Arial"/>
                    <a:sym typeface="Arial"/>
                  </a:rPr>
                  <a:t>Pertinence &amp; impact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0"/>
              <p:cNvSpPr/>
              <p:nvPr/>
            </p:nvSpPr>
            <p:spPr>
              <a:xfrm>
                <a:off x="1936474" y="2533802"/>
                <a:ext cx="4602480" cy="181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66666"/>
                  </a:buClr>
                  <a:buSzPts val="1000"/>
                  <a:buFont typeface="Arial"/>
                  <a:buNone/>
                </a:pPr>
                <a:r>
                  <a:rPr lang="en-US" sz="1000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Problème réel, utilité, potentiel d’usage</a:t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10"/>
              <p:cNvSpPr/>
              <p:nvPr/>
            </p:nvSpPr>
            <p:spPr>
              <a:xfrm>
                <a:off x="9640625" y="2372868"/>
                <a:ext cx="1400755" cy="221285"/>
              </a:xfrm>
              <a:prstGeom prst="rect">
                <a:avLst/>
              </a:prstGeom>
              <a:solidFill>
                <a:srgbClr val="E3E6E4"/>
              </a:solidFill>
              <a:ln cap="flat" cmpd="sng" w="10150">
                <a:solidFill>
                  <a:srgbClr val="E3E6E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000" lIns="1000" spcFirstLastPara="1" rIns="1000" wrap="square" tIns="100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10"/>
              <p:cNvSpPr/>
              <p:nvPr/>
            </p:nvSpPr>
            <p:spPr>
              <a:xfrm>
                <a:off x="6839116" y="2372868"/>
                <a:ext cx="2801510" cy="221285"/>
              </a:xfrm>
              <a:prstGeom prst="rect">
                <a:avLst/>
              </a:prstGeom>
              <a:solidFill>
                <a:srgbClr val="2F8F4E"/>
              </a:solidFill>
              <a:ln cap="flat" cmpd="sng" w="10150">
                <a:solidFill>
                  <a:srgbClr val="2F8F4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000" lIns="1000" spcFirstLastPara="1" rIns="1000" wrap="square" tIns="100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5" name="Google Shape;315;p10"/>
            <p:cNvGrpSpPr/>
            <p:nvPr/>
          </p:nvGrpSpPr>
          <p:grpSpPr>
            <a:xfrm>
              <a:off x="685800" y="3528214"/>
              <a:ext cx="10355580" cy="452628"/>
              <a:chOff x="685800" y="3127248"/>
              <a:chExt cx="10355580" cy="452628"/>
            </a:xfrm>
          </p:grpSpPr>
          <p:sp>
            <p:nvSpPr>
              <p:cNvPr id="316" name="Google Shape;316;p10"/>
              <p:cNvSpPr/>
              <p:nvPr/>
            </p:nvSpPr>
            <p:spPr>
              <a:xfrm>
                <a:off x="685800" y="3127248"/>
                <a:ext cx="1000539" cy="452628"/>
              </a:xfrm>
              <a:prstGeom prst="rect">
                <a:avLst/>
              </a:prstGeom>
              <a:solidFill>
                <a:srgbClr val="171717"/>
              </a:solidFill>
              <a:ln cap="flat" cmpd="sng" w="10150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00" lIns="1000" spcFirstLastPara="1" rIns="1000" wrap="square" tIns="1000">
                <a:norm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20 pts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10"/>
              <p:cNvSpPr/>
              <p:nvPr/>
            </p:nvSpPr>
            <p:spPr>
              <a:xfrm>
                <a:off x="1936474" y="3127248"/>
                <a:ext cx="3201725" cy="2212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11111"/>
                  </a:buClr>
                  <a:buSzPts val="1400"/>
                  <a:buFont typeface="Arial"/>
                  <a:buNone/>
                </a:pPr>
                <a:r>
                  <a:rPr b="1" lang="en-US" sz="1400">
                    <a:solidFill>
                      <a:srgbClr val="111111"/>
                    </a:solidFill>
                    <a:latin typeface="Arial"/>
                    <a:ea typeface="Arial"/>
                    <a:cs typeface="Arial"/>
                    <a:sym typeface="Arial"/>
                  </a:rPr>
                  <a:t>Fonctionnalité &amp; démonstration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10"/>
              <p:cNvSpPr/>
              <p:nvPr/>
            </p:nvSpPr>
            <p:spPr>
              <a:xfrm>
                <a:off x="1936474" y="3388766"/>
                <a:ext cx="4602480" cy="181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66666"/>
                  </a:buClr>
                  <a:buSzPts val="1000"/>
                  <a:buFont typeface="Arial"/>
                  <a:buNone/>
                </a:pPr>
                <a:r>
                  <a:rPr lang="en-US" sz="1000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Prototype opérationnel et démonstration compréhensible</a:t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0"/>
              <p:cNvSpPr/>
              <p:nvPr/>
            </p:nvSpPr>
            <p:spPr>
              <a:xfrm>
                <a:off x="9640625" y="3227832"/>
                <a:ext cx="1400755" cy="221285"/>
              </a:xfrm>
              <a:prstGeom prst="rect">
                <a:avLst/>
              </a:prstGeom>
              <a:solidFill>
                <a:srgbClr val="E3E6E4"/>
              </a:solidFill>
              <a:ln cap="flat" cmpd="sng" w="10150">
                <a:solidFill>
                  <a:srgbClr val="E3E6E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000" lIns="1000" spcFirstLastPara="1" rIns="1000" wrap="square" tIns="100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0"/>
              <p:cNvSpPr/>
              <p:nvPr/>
            </p:nvSpPr>
            <p:spPr>
              <a:xfrm>
                <a:off x="6839116" y="3227832"/>
                <a:ext cx="2801510" cy="221285"/>
              </a:xfrm>
              <a:prstGeom prst="rect">
                <a:avLst/>
              </a:prstGeom>
              <a:solidFill>
                <a:srgbClr val="2F8F4E"/>
              </a:solidFill>
              <a:ln cap="flat" cmpd="sng" w="10150">
                <a:solidFill>
                  <a:srgbClr val="2F8F4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000" lIns="1000" spcFirstLastPara="1" rIns="1000" wrap="square" tIns="100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10"/>
            <p:cNvGrpSpPr/>
            <p:nvPr/>
          </p:nvGrpSpPr>
          <p:grpSpPr>
            <a:xfrm>
              <a:off x="685800" y="4245560"/>
              <a:ext cx="10355580" cy="452628"/>
              <a:chOff x="685800" y="3982212"/>
              <a:chExt cx="10355580" cy="452628"/>
            </a:xfrm>
          </p:grpSpPr>
          <p:sp>
            <p:nvSpPr>
              <p:cNvPr id="322" name="Google Shape;322;p10"/>
              <p:cNvSpPr/>
              <p:nvPr/>
            </p:nvSpPr>
            <p:spPr>
              <a:xfrm>
                <a:off x="685800" y="3982212"/>
                <a:ext cx="1000539" cy="452628"/>
              </a:xfrm>
              <a:prstGeom prst="rect">
                <a:avLst/>
              </a:prstGeom>
              <a:solidFill>
                <a:srgbClr val="171717"/>
              </a:solidFill>
              <a:ln cap="flat" cmpd="sng" w="10150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00" lIns="1000" spcFirstLastPara="1" rIns="1000" wrap="square" tIns="1000">
                <a:norm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15 pts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0"/>
              <p:cNvSpPr/>
              <p:nvPr/>
            </p:nvSpPr>
            <p:spPr>
              <a:xfrm>
                <a:off x="1936474" y="3982212"/>
                <a:ext cx="3201725" cy="2212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11111"/>
                  </a:buClr>
                  <a:buSzPts val="1400"/>
                  <a:buFont typeface="Arial"/>
                  <a:buNone/>
                </a:pPr>
                <a:r>
                  <a:rPr b="1" lang="en-US" sz="1400">
                    <a:solidFill>
                      <a:srgbClr val="111111"/>
                    </a:solidFill>
                    <a:latin typeface="Arial"/>
                    <a:ea typeface="Arial"/>
                    <a:cs typeface="Arial"/>
                    <a:sym typeface="Arial"/>
                  </a:rPr>
                  <a:t>Qualité de la présentation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10"/>
              <p:cNvSpPr/>
              <p:nvPr/>
            </p:nvSpPr>
            <p:spPr>
              <a:xfrm>
                <a:off x="1936474" y="4243730"/>
                <a:ext cx="4602480" cy="181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66666"/>
                  </a:buClr>
                  <a:buSzPts val="1000"/>
                  <a:buFont typeface="Arial"/>
                  <a:buNone/>
                </a:pPr>
                <a:r>
                  <a:rPr lang="en-US" sz="1000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Clarté du message, structure, lisibilité</a:t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0"/>
              <p:cNvSpPr/>
              <p:nvPr/>
            </p:nvSpPr>
            <p:spPr>
              <a:xfrm>
                <a:off x="8940248" y="4082796"/>
                <a:ext cx="2101132" cy="221285"/>
              </a:xfrm>
              <a:prstGeom prst="rect">
                <a:avLst/>
              </a:prstGeom>
              <a:solidFill>
                <a:srgbClr val="E3E6E4"/>
              </a:solidFill>
              <a:ln cap="flat" cmpd="sng" w="10150">
                <a:solidFill>
                  <a:srgbClr val="E3E6E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000" lIns="1000" spcFirstLastPara="1" rIns="1000" wrap="square" tIns="100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10"/>
              <p:cNvSpPr/>
              <p:nvPr/>
            </p:nvSpPr>
            <p:spPr>
              <a:xfrm>
                <a:off x="6839116" y="4082796"/>
                <a:ext cx="2101132" cy="221285"/>
              </a:xfrm>
              <a:prstGeom prst="rect">
                <a:avLst/>
              </a:prstGeom>
              <a:solidFill>
                <a:srgbClr val="2F8F4E"/>
              </a:solidFill>
              <a:ln cap="flat" cmpd="sng" w="10150">
                <a:solidFill>
                  <a:srgbClr val="2F8F4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000" lIns="1000" spcFirstLastPara="1" rIns="1000" wrap="square" tIns="100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7" name="Google Shape;327;p10"/>
            <p:cNvGrpSpPr/>
            <p:nvPr/>
          </p:nvGrpSpPr>
          <p:grpSpPr>
            <a:xfrm>
              <a:off x="685800" y="4962906"/>
              <a:ext cx="10355580" cy="452628"/>
              <a:chOff x="685800" y="4837176"/>
              <a:chExt cx="10355580" cy="452628"/>
            </a:xfrm>
          </p:grpSpPr>
          <p:sp>
            <p:nvSpPr>
              <p:cNvPr id="328" name="Google Shape;328;p10"/>
              <p:cNvSpPr/>
              <p:nvPr/>
            </p:nvSpPr>
            <p:spPr>
              <a:xfrm>
                <a:off x="685800" y="4837176"/>
                <a:ext cx="1000539" cy="452628"/>
              </a:xfrm>
              <a:prstGeom prst="rect">
                <a:avLst/>
              </a:prstGeom>
              <a:solidFill>
                <a:srgbClr val="171717"/>
              </a:solidFill>
              <a:ln cap="flat" cmpd="sng" w="10150">
                <a:solidFill>
                  <a:srgbClr val="1717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00" lIns="1000" spcFirstLastPara="1" rIns="1000" wrap="square" tIns="1000">
                <a:norm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15 pts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0"/>
              <p:cNvSpPr/>
              <p:nvPr/>
            </p:nvSpPr>
            <p:spPr>
              <a:xfrm>
                <a:off x="1936474" y="4837176"/>
                <a:ext cx="3201725" cy="2212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111111"/>
                  </a:buClr>
                  <a:buSzPts val="1400"/>
                  <a:buFont typeface="Arial"/>
                  <a:buNone/>
                </a:pPr>
                <a:r>
                  <a:rPr b="1" lang="en-US" sz="1400">
                    <a:solidFill>
                      <a:srgbClr val="111111"/>
                    </a:solidFill>
                    <a:latin typeface="Arial"/>
                    <a:ea typeface="Arial"/>
                    <a:cs typeface="Arial"/>
                    <a:sym typeface="Arial"/>
                  </a:rPr>
                  <a:t>Réponses aux questions du jury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10"/>
              <p:cNvSpPr/>
              <p:nvPr/>
            </p:nvSpPr>
            <p:spPr>
              <a:xfrm>
                <a:off x="1936474" y="5098694"/>
                <a:ext cx="4602480" cy="181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666666"/>
                  </a:buClr>
                  <a:buSzPts val="1000"/>
                  <a:buFont typeface="Arial"/>
                  <a:buNone/>
                </a:pPr>
                <a:r>
                  <a:rPr lang="en-US" sz="1000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Capacité à justifier les choix et limites</a:t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10"/>
              <p:cNvSpPr/>
              <p:nvPr/>
            </p:nvSpPr>
            <p:spPr>
              <a:xfrm>
                <a:off x="8940248" y="4937760"/>
                <a:ext cx="2101132" cy="221285"/>
              </a:xfrm>
              <a:prstGeom prst="rect">
                <a:avLst/>
              </a:prstGeom>
              <a:solidFill>
                <a:srgbClr val="E3E6E4"/>
              </a:solidFill>
              <a:ln cap="flat" cmpd="sng" w="10150">
                <a:solidFill>
                  <a:srgbClr val="E3E6E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000" lIns="1000" spcFirstLastPara="1" rIns="1000" wrap="square" tIns="100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10"/>
              <p:cNvSpPr/>
              <p:nvPr/>
            </p:nvSpPr>
            <p:spPr>
              <a:xfrm>
                <a:off x="6839116" y="4937760"/>
                <a:ext cx="2101132" cy="221285"/>
              </a:xfrm>
              <a:prstGeom prst="rect">
                <a:avLst/>
              </a:prstGeom>
              <a:solidFill>
                <a:srgbClr val="2F8F4E"/>
              </a:solidFill>
              <a:ln cap="flat" cmpd="sng" w="10150">
                <a:solidFill>
                  <a:srgbClr val="2F8F4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000" lIns="1000" spcFirstLastPara="1" rIns="1000" wrap="square" tIns="1000">
                <a:norm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" name="Google Shape;333;p10"/>
            <p:cNvSpPr/>
            <p:nvPr/>
          </p:nvSpPr>
          <p:spPr>
            <a:xfrm>
              <a:off x="8740140" y="5742432"/>
              <a:ext cx="1901024" cy="452628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0" lIns="1000" spcFirstLastPara="1" rIns="1000" wrap="square" tIns="100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TOTAL 100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/mnt/data/ttalogos/tta_top_logo.png" id="334" name="Google Shape;3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5624" y="205744"/>
            <a:ext cx="1936376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0"/>
          <p:cNvSpPr/>
          <p:nvPr/>
        </p:nvSpPr>
        <p:spPr>
          <a:xfrm>
            <a:off x="502920" y="6633976"/>
            <a:ext cx="20116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TECH TALENT ACCELERATOR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5074920" y="6576824"/>
            <a:ext cx="2560320" cy="22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Demo Day Bootcamp GenAI &amp; ML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"/>
          <p:cNvSpPr/>
          <p:nvPr/>
        </p:nvSpPr>
        <p:spPr>
          <a:xfrm>
            <a:off x="11631168" y="6519672"/>
            <a:ext cx="404622" cy="281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502920" y="5029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Règles de visibilité &amp; communication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502920" y="987552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Une communication cohérente protège le projet et ses partenaires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" name="Google Shape;345;p11"/>
          <p:cNvGrpSpPr/>
          <p:nvPr/>
        </p:nvGrpSpPr>
        <p:grpSpPr>
          <a:xfrm>
            <a:off x="502920" y="2011680"/>
            <a:ext cx="11018520" cy="2377440"/>
            <a:chOff x="502920" y="1417320"/>
            <a:chExt cx="11018520" cy="2377440"/>
          </a:xfrm>
        </p:grpSpPr>
        <p:sp>
          <p:nvSpPr>
            <p:cNvPr id="346" name="Google Shape;346;p11"/>
            <p:cNvSpPr/>
            <p:nvPr/>
          </p:nvSpPr>
          <p:spPr>
            <a:xfrm>
              <a:off x="502920" y="141732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502920" y="141732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612648" y="159105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TTA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1033272" y="158191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Dénomination officielle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1033272" y="189280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50"/>
                <a:buFont typeface="Arial"/>
                <a:buNone/>
              </a:pPr>
              <a:r>
                <a:rPr lang="en-US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Utiliser uniquement : “Tech Talent Accelerator (TTA)”.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4297680" y="141732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1"/>
            <p:cNvSpPr/>
            <p:nvPr/>
          </p:nvSpPr>
          <p:spPr>
            <a:xfrm>
              <a:off x="4297680" y="141732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1"/>
            <p:cNvSpPr/>
            <p:nvPr/>
          </p:nvSpPr>
          <p:spPr>
            <a:xfrm>
              <a:off x="4407408" y="159105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📷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1"/>
            <p:cNvSpPr/>
            <p:nvPr/>
          </p:nvSpPr>
          <p:spPr>
            <a:xfrm>
              <a:off x="4828032" y="158191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Photos &amp; vidéos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1"/>
            <p:cNvSpPr/>
            <p:nvPr/>
          </p:nvSpPr>
          <p:spPr>
            <a:xfrm>
              <a:off x="4828032" y="189280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50"/>
                <a:buFont typeface="Arial"/>
                <a:buNone/>
              </a:pPr>
              <a:r>
                <a:rPr lang="en-US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Capturer des contenus courts, propres et exploitables pour le recap.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1"/>
            <p:cNvSpPr/>
            <p:nvPr/>
          </p:nvSpPr>
          <p:spPr>
            <a:xfrm>
              <a:off x="8092440" y="141732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1"/>
            <p:cNvSpPr/>
            <p:nvPr/>
          </p:nvSpPr>
          <p:spPr>
            <a:xfrm>
              <a:off x="8092440" y="141732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8202168" y="159105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↗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1"/>
            <p:cNvSpPr/>
            <p:nvPr/>
          </p:nvSpPr>
          <p:spPr>
            <a:xfrm>
              <a:off x="8622792" y="158191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Canaux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1"/>
            <p:cNvSpPr/>
            <p:nvPr/>
          </p:nvSpPr>
          <p:spPr>
            <a:xfrm>
              <a:off x="8622792" y="189280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50"/>
                <a:buFont typeface="Arial"/>
                <a:buNone/>
              </a:pPr>
              <a:r>
                <a:rPr lang="en-US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WhatsApp, LinkedIn, Instagram, écrans sur site et recap partenaires.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1"/>
            <p:cNvSpPr/>
            <p:nvPr/>
          </p:nvSpPr>
          <p:spPr>
            <a:xfrm>
              <a:off x="502920" y="283464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1"/>
            <p:cNvSpPr/>
            <p:nvPr/>
          </p:nvSpPr>
          <p:spPr>
            <a:xfrm>
              <a:off x="502920" y="283464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1"/>
            <p:cNvSpPr/>
            <p:nvPr/>
          </p:nvSpPr>
          <p:spPr>
            <a:xfrm>
              <a:off x="612648" y="300837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1"/>
            <p:cNvSpPr/>
            <p:nvPr/>
          </p:nvSpPr>
          <p:spPr>
            <a:xfrm>
              <a:off x="1033272" y="299923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Mentions attendues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1"/>
            <p:cNvSpPr/>
            <p:nvPr/>
          </p:nvSpPr>
          <p:spPr>
            <a:xfrm>
              <a:off x="1033272" y="331012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50"/>
                <a:buFont typeface="Arial"/>
                <a:buNone/>
              </a:pPr>
              <a:r>
                <a:rPr lang="en-US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#FORPRODE #UnionEuropeenne #CooperationAllemande #InvestForJobs #GIZ #KFW #Siralabs #Developersinstitute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1"/>
            <p:cNvSpPr/>
            <p:nvPr/>
          </p:nvSpPr>
          <p:spPr>
            <a:xfrm>
              <a:off x="4297680" y="283464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1"/>
            <p:cNvSpPr/>
            <p:nvPr/>
          </p:nvSpPr>
          <p:spPr>
            <a:xfrm>
              <a:off x="4297680" y="283464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1"/>
            <p:cNvSpPr/>
            <p:nvPr/>
          </p:nvSpPr>
          <p:spPr>
            <a:xfrm>
              <a:off x="4407408" y="300837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🔒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4828032" y="299923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Résultats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4828032" y="331012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50"/>
                <a:buFont typeface="Arial"/>
                <a:buNone/>
              </a:pPr>
              <a:r>
                <a:rPr lang="en-US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Publication des résultats d’évaluation du jury le 31 Juillet 2026.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8092440" y="283464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8092440" y="283464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1"/>
            <p:cNvSpPr/>
            <p:nvPr/>
          </p:nvSpPr>
          <p:spPr>
            <a:xfrm>
              <a:off x="8202168" y="300837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8622792" y="299923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Consentement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8622792" y="331012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50"/>
                <a:buFont typeface="Arial"/>
                <a:buNone/>
              </a:pPr>
              <a:r>
                <a:rPr lang="en-US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Éviter toute publication sensible ou non validée.</a:t>
              </a:r>
              <a:endPara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/mnt/data/ttalogos/tta_top_logo.png" id="376" name="Google Shape;3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5624" y="205744"/>
            <a:ext cx="1936376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1"/>
          <p:cNvSpPr/>
          <p:nvPr/>
        </p:nvSpPr>
        <p:spPr>
          <a:xfrm>
            <a:off x="502920" y="6633976"/>
            <a:ext cx="20116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TECH TALENT ACCELERATOR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5074920" y="6576824"/>
            <a:ext cx="2560320" cy="22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Demo Day Bootcamp GenAI &amp; ML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2"/>
          <p:cNvSpPr/>
          <p:nvPr/>
        </p:nvSpPr>
        <p:spPr>
          <a:xfrm>
            <a:off x="502920" y="5029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Après le Demo Day - transformer les projets en actifs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502920" y="987552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La valeur ne s’arrête pas à la notation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12"/>
          <p:cNvGrpSpPr/>
          <p:nvPr/>
        </p:nvGrpSpPr>
        <p:grpSpPr>
          <a:xfrm>
            <a:off x="502920" y="1856232"/>
            <a:ext cx="11018520" cy="3188970"/>
            <a:chOff x="502920" y="1417320"/>
            <a:chExt cx="11018520" cy="2377440"/>
          </a:xfrm>
        </p:grpSpPr>
        <p:sp>
          <p:nvSpPr>
            <p:cNvPr id="387" name="Google Shape;387;p12"/>
            <p:cNvSpPr/>
            <p:nvPr/>
          </p:nvSpPr>
          <p:spPr>
            <a:xfrm>
              <a:off x="502920" y="141732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2"/>
            <p:cNvSpPr/>
            <p:nvPr/>
          </p:nvSpPr>
          <p:spPr>
            <a:xfrm>
              <a:off x="502920" y="141732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2"/>
            <p:cNvSpPr/>
            <p:nvPr/>
          </p:nvSpPr>
          <p:spPr>
            <a:xfrm>
              <a:off x="612648" y="159105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2"/>
            <p:cNvSpPr/>
            <p:nvPr/>
          </p:nvSpPr>
          <p:spPr>
            <a:xfrm>
              <a:off x="1033272" y="158191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Consolider les notes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2"/>
            <p:cNvSpPr/>
            <p:nvPr/>
          </p:nvSpPr>
          <p:spPr>
            <a:xfrm>
              <a:off x="1033272" y="189280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Vérification des grilles, validation des scores, seuil de 60/100 proposé.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2"/>
            <p:cNvSpPr/>
            <p:nvPr/>
          </p:nvSpPr>
          <p:spPr>
            <a:xfrm>
              <a:off x="4297680" y="141732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2"/>
            <p:cNvSpPr/>
            <p:nvPr/>
          </p:nvSpPr>
          <p:spPr>
            <a:xfrm>
              <a:off x="4297680" y="141732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2"/>
            <p:cNvSpPr/>
            <p:nvPr/>
          </p:nvSpPr>
          <p:spPr>
            <a:xfrm>
              <a:off x="4407408" y="159105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2"/>
            <p:cNvSpPr/>
            <p:nvPr/>
          </p:nvSpPr>
          <p:spPr>
            <a:xfrm>
              <a:off x="4828032" y="158191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Donner un feedback utile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2"/>
            <p:cNvSpPr/>
            <p:nvPr/>
          </p:nvSpPr>
          <p:spPr>
            <a:xfrm>
              <a:off x="4828032" y="189280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Une force et un axe d’amélioration par apprenant.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2"/>
            <p:cNvSpPr/>
            <p:nvPr/>
          </p:nvSpPr>
          <p:spPr>
            <a:xfrm>
              <a:off x="8092440" y="141732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2"/>
            <p:cNvSpPr/>
            <p:nvPr/>
          </p:nvSpPr>
          <p:spPr>
            <a:xfrm>
              <a:off x="8092440" y="141732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2"/>
            <p:cNvSpPr/>
            <p:nvPr/>
          </p:nvSpPr>
          <p:spPr>
            <a:xfrm>
              <a:off x="8202168" y="159105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2"/>
            <p:cNvSpPr/>
            <p:nvPr/>
          </p:nvSpPr>
          <p:spPr>
            <a:xfrm>
              <a:off x="8622792" y="158191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Préparer la cérémonie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2"/>
            <p:cNvSpPr/>
            <p:nvPr/>
          </p:nvSpPr>
          <p:spPr>
            <a:xfrm>
              <a:off x="8622792" y="189280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Annonce des résultats le 31 juillet avec un message clair et sobre.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2"/>
            <p:cNvSpPr/>
            <p:nvPr/>
          </p:nvSpPr>
          <p:spPr>
            <a:xfrm>
              <a:off x="502920" y="283464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2"/>
            <p:cNvSpPr/>
            <p:nvPr/>
          </p:nvSpPr>
          <p:spPr>
            <a:xfrm>
              <a:off x="502920" y="283464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2"/>
            <p:cNvSpPr/>
            <p:nvPr/>
          </p:nvSpPr>
          <p:spPr>
            <a:xfrm>
              <a:off x="612648" y="300837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2"/>
            <p:cNvSpPr/>
            <p:nvPr/>
          </p:nvSpPr>
          <p:spPr>
            <a:xfrm>
              <a:off x="1033272" y="299923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Valoriser les meilleurs projets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2"/>
            <p:cNvSpPr/>
            <p:nvPr/>
          </p:nvSpPr>
          <p:spPr>
            <a:xfrm>
              <a:off x="1033272" y="331012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Portfolio, démonstrations partenaires, recruteurs et contenus de communication.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2"/>
            <p:cNvSpPr/>
            <p:nvPr/>
          </p:nvSpPr>
          <p:spPr>
            <a:xfrm>
              <a:off x="4297680" y="283464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2"/>
            <p:cNvSpPr/>
            <p:nvPr/>
          </p:nvSpPr>
          <p:spPr>
            <a:xfrm>
              <a:off x="4297680" y="283464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2"/>
            <p:cNvSpPr/>
            <p:nvPr/>
          </p:nvSpPr>
          <p:spPr>
            <a:xfrm>
              <a:off x="4407408" y="300837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2"/>
            <p:cNvSpPr/>
            <p:nvPr/>
          </p:nvSpPr>
          <p:spPr>
            <a:xfrm>
              <a:off x="4828032" y="299923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Documenter les acquis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2"/>
            <p:cNvSpPr/>
            <p:nvPr/>
          </p:nvSpPr>
          <p:spPr>
            <a:xfrm>
              <a:off x="4828032" y="331012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Retours formateurs, jury et apprenants pour améliorer la prochaine cohorte.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2"/>
            <p:cNvSpPr/>
            <p:nvPr/>
          </p:nvSpPr>
          <p:spPr>
            <a:xfrm>
              <a:off x="8092440" y="2834640"/>
              <a:ext cx="3429000" cy="960120"/>
            </a:xfrm>
            <a:prstGeom prst="rect">
              <a:avLst/>
            </a:prstGeom>
            <a:solidFill>
              <a:srgbClr val="F7F8F7"/>
            </a:solidFill>
            <a:ln cap="flat" cmpd="sng" w="10150">
              <a:solidFill>
                <a:srgbClr val="E3E6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2"/>
            <p:cNvSpPr/>
            <p:nvPr/>
          </p:nvSpPr>
          <p:spPr>
            <a:xfrm>
              <a:off x="8092440" y="2834640"/>
              <a:ext cx="3429000" cy="32004"/>
            </a:xfrm>
            <a:prstGeom prst="rect">
              <a:avLst/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00" lIns="1000" spcFirstLastPara="1" rIns="1000" wrap="square" tIns="1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Arial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2"/>
            <p:cNvSpPr/>
            <p:nvPr/>
          </p:nvSpPr>
          <p:spPr>
            <a:xfrm>
              <a:off x="8202168" y="3008376"/>
              <a:ext cx="329184" cy="329184"/>
            </a:xfrm>
            <a:prstGeom prst="roundRect">
              <a:avLst>
                <a:gd fmla="val 16667" name="adj"/>
              </a:avLst>
            </a:prstGeom>
            <a:solidFill>
              <a:srgbClr val="11743B"/>
            </a:solidFill>
            <a:ln cap="flat" cmpd="sng" w="10150">
              <a:solidFill>
                <a:srgbClr val="1174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2"/>
            <p:cNvSpPr/>
            <p:nvPr/>
          </p:nvSpPr>
          <p:spPr>
            <a:xfrm>
              <a:off x="8622792" y="2999232"/>
              <a:ext cx="2770632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Arial"/>
                <a:buNone/>
              </a:pPr>
              <a:r>
                <a:rPr b="1" lang="en-US" sz="12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Suivre l’insertion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2"/>
            <p:cNvSpPr/>
            <p:nvPr/>
          </p:nvSpPr>
          <p:spPr>
            <a:xfrm>
              <a:off x="8622792" y="3310128"/>
              <a:ext cx="2788920" cy="393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0" lIns="250" spcFirstLastPara="1" rIns="250" wrap="square" tIns="250">
              <a:norm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Identifier les projets et profils exploitables pour stages, missions et recrutement.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/mnt/data/ttalogos/tta_top_logo.png" id="417" name="Google Shape;4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5624" y="205744"/>
            <a:ext cx="1936376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2"/>
          <p:cNvSpPr/>
          <p:nvPr/>
        </p:nvSpPr>
        <p:spPr>
          <a:xfrm>
            <a:off x="502920" y="6633976"/>
            <a:ext cx="20116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TECH TALENT ACCELERATOR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5074920" y="6576824"/>
            <a:ext cx="2560320" cy="22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Demo Day Bootcamp GenAI &amp; ML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1743B"/>
          </a:solidFill>
          <a:ln cap="flat" cmpd="sng" w="10150">
            <a:solidFill>
              <a:srgbClr val="11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talogos/tta_top_logo.png" id="426" name="Google Shape;4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536" y="246888"/>
            <a:ext cx="1508760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3"/>
          <p:cNvSpPr/>
          <p:nvPr/>
        </p:nvSpPr>
        <p:spPr>
          <a:xfrm>
            <a:off x="674370" y="2194560"/>
            <a:ext cx="1043559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Réussir le Demo Day, c’est prouver que les talents TTA savent livrer.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1336146" y="2788920"/>
            <a:ext cx="917945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Des projets IA concrets. Des démonstrations claires. Des profils prêts à être valorisés et insérer dans l’écosystème techs et IA.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9" name="Google Shape;429;p13"/>
          <p:cNvGrpSpPr/>
          <p:nvPr/>
        </p:nvGrpSpPr>
        <p:grpSpPr>
          <a:xfrm>
            <a:off x="2245995" y="3921739"/>
            <a:ext cx="7715250" cy="432054"/>
            <a:chOff x="2929361" y="3840480"/>
            <a:chExt cx="6397519" cy="237744"/>
          </a:xfrm>
        </p:grpSpPr>
        <p:sp>
          <p:nvSpPr>
            <p:cNvPr id="430" name="Google Shape;430;p13"/>
            <p:cNvSpPr/>
            <p:nvPr/>
          </p:nvSpPr>
          <p:spPr>
            <a:xfrm>
              <a:off x="2929361" y="3840480"/>
              <a:ext cx="1642639" cy="237744"/>
            </a:xfrm>
            <a:prstGeom prst="rect">
              <a:avLst/>
            </a:prstGeom>
            <a:solidFill>
              <a:srgbClr val="11743B"/>
            </a:solidFill>
            <a:ln cap="flat" cmpd="sng" w="9525">
              <a:solidFill>
                <a:srgbClr val="11743B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29-30 juillet 2026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3"/>
            <p:cNvSpPr/>
            <p:nvPr/>
          </p:nvSpPr>
          <p:spPr>
            <a:xfrm>
              <a:off x="5078201" y="3840480"/>
              <a:ext cx="1642639" cy="237744"/>
            </a:xfrm>
            <a:prstGeom prst="rect">
              <a:avLst/>
            </a:prstGeom>
            <a:solidFill>
              <a:srgbClr val="11743B"/>
            </a:solidFill>
            <a:ln cap="flat" cmpd="sng" w="9525">
              <a:solidFill>
                <a:srgbClr val="11743B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52 projets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3"/>
            <p:cNvSpPr/>
            <p:nvPr/>
          </p:nvSpPr>
          <p:spPr>
            <a:xfrm>
              <a:off x="7201112" y="3840480"/>
              <a:ext cx="2125768" cy="237744"/>
            </a:xfrm>
            <a:prstGeom prst="rect">
              <a:avLst/>
            </a:prstGeom>
            <a:solidFill>
              <a:srgbClr val="11743B"/>
            </a:solidFill>
            <a:ln cap="flat" cmpd="sng" w="9525">
              <a:solidFill>
                <a:srgbClr val="11743B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5" lIns="375" spcFirstLastPara="1" rIns="375" wrap="square" tIns="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 min vidéo + 3 min Q&amp;R</a:t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/mnt/data/ttalogos/bottom_bbox.png" id="433" name="Google Shape;433;p13"/>
          <p:cNvPicPr preferRelativeResize="0"/>
          <p:nvPr/>
        </p:nvPicPr>
        <p:blipFill rotWithShape="1">
          <a:blip r:embed="rId4">
            <a:alphaModFix/>
          </a:blip>
          <a:srcRect b="0" l="0" r="0" t="43293"/>
          <a:stretch/>
        </p:blipFill>
        <p:spPr>
          <a:xfrm>
            <a:off x="7222255" y="147874"/>
            <a:ext cx="4850014" cy="5789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" name="Google Shape;434;p13"/>
          <p:cNvGrpSpPr/>
          <p:nvPr/>
        </p:nvGrpSpPr>
        <p:grpSpPr>
          <a:xfrm>
            <a:off x="7995367" y="6377571"/>
            <a:ext cx="4076902" cy="443130"/>
            <a:chOff x="6461636" y="6216836"/>
            <a:chExt cx="5369378" cy="655247"/>
          </a:xfrm>
        </p:grpSpPr>
        <p:pic>
          <p:nvPicPr>
            <p:cNvPr id="435" name="Google Shape;435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61636" y="6453888"/>
              <a:ext cx="1550293" cy="2546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WAKKEH (Dictable) | LinkedIn" id="436" name="Google Shape;436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750682" y="6216836"/>
              <a:ext cx="655247" cy="655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e vous annonce avec beaucoup d'enthousiasme que j'intègre ..." id="437" name="Google Shape;437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293050" y="6381953"/>
              <a:ext cx="1176511" cy="3250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e Phare - Coworking | Abidjan Abidjan" id="438" name="Google Shape;438;p13"/>
            <p:cNvPicPr preferRelativeResize="0"/>
            <p:nvPr/>
          </p:nvPicPr>
          <p:blipFill rotWithShape="1">
            <a:blip r:embed="rId8">
              <a:alphaModFix/>
            </a:blip>
            <a:srcRect b="29769" l="0" r="0" t="28115"/>
            <a:stretch/>
          </p:blipFill>
          <p:spPr>
            <a:xfrm>
              <a:off x="10698480" y="6305975"/>
              <a:ext cx="1132534" cy="4769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9" name="Google Shape;439;p13"/>
          <p:cNvSpPr/>
          <p:nvPr/>
        </p:nvSpPr>
        <p:spPr>
          <a:xfrm>
            <a:off x="5663515" y="6457807"/>
            <a:ext cx="2023276" cy="33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 partenariat avec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2026-07-22T14:57:35Z</dcterms:created>
  <dc:creator>OpenAI</dc:creator>
</cp:coreProperties>
</file>